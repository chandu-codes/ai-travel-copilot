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365760" y="4389120"/>
            <a:ext cx="2560320" cy="1737360"/>
          </a:xfrm>
          <a:prstGeom prst="line">
            <a:avLst/>
          </a:prstGeom>
          <a:ln w="25400">
            <a:solidFill>
              <a:srgbClr val="2E4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828800" y="4754880"/>
            <a:ext cx="2743200" cy="1645920"/>
          </a:xfrm>
          <a:prstGeom prst="line">
            <a:avLst/>
          </a:prstGeom>
          <a:ln w="25400">
            <a:solidFill>
              <a:srgbClr val="2E4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0" y="365760"/>
            <a:ext cx="3931920" cy="2011680"/>
          </a:xfrm>
          <a:prstGeom prst="line">
            <a:avLst/>
          </a:prstGeom>
          <a:ln w="25400">
            <a:solidFill>
              <a:srgbClr val="2E4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0" y="274320"/>
            <a:ext cx="2468880" cy="1097280"/>
          </a:xfrm>
          <a:prstGeom prst="line">
            <a:avLst/>
          </a:prstGeom>
          <a:ln w="25400">
            <a:solidFill>
              <a:srgbClr val="2E4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818120" y="1143000"/>
            <a:ext cx="3566160" cy="448056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481328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23B1B5"/>
                </a:solidFill>
                <a:latin typeface="Aptos"/>
              </a:rPr>
              <a:t>PLAN  •  PREDICT  •  OPTIMIZE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920240"/>
            <a:ext cx="2834640" cy="804672"/>
          </a:xfrm>
          <a:prstGeom prst="roundRect">
            <a:avLst/>
          </a:prstGeom>
          <a:solidFill>
            <a:srgbClr val="1C2F48"/>
          </a:solidFill>
          <a:ln w="12700"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2039112"/>
            <a:ext cx="65836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23B1B5"/>
                </a:solidFill>
                <a:latin typeface="Aptos"/>
              </a:rPr>
              <a:t>DAY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40280"/>
            <a:ext cx="16459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Goa Heritage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2992" y="2249424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EBB441"/>
                </a:solidFill>
                <a:latin typeface="Aptos"/>
              </a:rPr>
              <a:t>₹2,450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944368"/>
            <a:ext cx="2834640" cy="804672"/>
          </a:xfrm>
          <a:prstGeom prst="roundRect">
            <a:avLst/>
          </a:prstGeom>
          <a:solidFill>
            <a:srgbClr val="1C2F48"/>
          </a:solidFill>
          <a:ln w="12700"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3063240"/>
            <a:ext cx="65836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23B1B5"/>
                </a:solidFill>
                <a:latin typeface="Aptos"/>
              </a:rPr>
              <a:t>DAY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264408"/>
            <a:ext cx="16459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Beach + Adventure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992" y="3273552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EBB441"/>
                </a:solidFill>
                <a:latin typeface="Aptos"/>
              </a:rPr>
              <a:t>₹3,100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968496"/>
            <a:ext cx="2834640" cy="804672"/>
          </a:xfrm>
          <a:prstGeom prst="roundRect">
            <a:avLst/>
          </a:prstGeom>
          <a:solidFill>
            <a:srgbClr val="1C2F48"/>
          </a:solidFill>
          <a:ln w="12700"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4087368"/>
            <a:ext cx="65836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23B1B5"/>
                </a:solidFill>
                <a:latin typeface="Aptos"/>
              </a:rPr>
              <a:t>DAY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88536"/>
            <a:ext cx="16459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Dudhsagar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29768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EBB441"/>
                </a:solidFill>
                <a:latin typeface="Aptos"/>
              </a:rPr>
              <a:t>₹2,750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94360"/>
            <a:ext cx="2423160" cy="310896"/>
          </a:xfrm>
          <a:prstGeom prst="roundRect">
            <a:avLst/>
          </a:prstGeom>
          <a:solidFill>
            <a:srgbClr val="182F4C"/>
          </a:solidFill>
          <a:ln w="12700">
            <a:solidFill>
              <a:srgbClr val="18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612648"/>
            <a:ext cx="242316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23B1B5"/>
                </a:solidFill>
                <a:latin typeface="Aptos"/>
              </a:rPr>
              <a:t>FULL-STACK AI + ML +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6400800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AI Travel
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46120"/>
            <a:ext cx="6217920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>
                <a:solidFill>
                  <a:srgbClr val="D2DEEE"/>
                </a:solidFill>
                <a:latin typeface="Aptos"/>
              </a:rPr>
              <a:t>An intelligent travel platform that turns a traveler’s intent, budget and constraints into an optimized trip — and adapts when conditions change.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1417320" cy="310896"/>
          </a:xfrm>
          <a:prstGeom prst="roundRect">
            <a:avLst/>
          </a:prstGeom>
          <a:solidFill>
            <a:srgbClr val="1D3048"/>
          </a:solidFill>
          <a:ln w="12700">
            <a:solidFill>
              <a:srgbClr val="1D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681727"/>
            <a:ext cx="141732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React + TypeScript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67712" y="4663440"/>
            <a:ext cx="1051560" cy="310896"/>
          </a:xfrm>
          <a:prstGeom prst="roundRect">
            <a:avLst/>
          </a:prstGeom>
          <a:solidFill>
            <a:srgbClr val="1D3048"/>
          </a:solidFill>
          <a:ln w="12700">
            <a:solidFill>
              <a:srgbClr val="1D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67712" y="4681727"/>
            <a:ext cx="105156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38144" y="4663440"/>
            <a:ext cx="1325880" cy="310896"/>
          </a:xfrm>
          <a:prstGeom prst="roundRect">
            <a:avLst/>
          </a:prstGeom>
          <a:solidFill>
            <a:srgbClr val="1D3048"/>
          </a:solidFill>
          <a:ln w="12700">
            <a:solidFill>
              <a:srgbClr val="1D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38144" y="4681727"/>
            <a:ext cx="13258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Scikit-learn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4663440"/>
            <a:ext cx="777240" cy="310896"/>
          </a:xfrm>
          <a:prstGeom prst="roundRect">
            <a:avLst/>
          </a:prstGeom>
          <a:solidFill>
            <a:srgbClr val="1D3048"/>
          </a:solidFill>
          <a:ln w="12700">
            <a:solidFill>
              <a:srgbClr val="1D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4681727"/>
            <a:ext cx="77724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6C7D"/>
                </a:solidFill>
                <a:latin typeface="Aptos"/>
              </a:rPr>
              <a:t>Project Showcase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89320"/>
            <a:ext cx="4937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Prepared for Interview / Project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01 •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Travel planning is fragmented — the Copilot unifies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The project is designed around one question: “Can the system make the trip decision for me, not just show me options?”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49834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EF8436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4297680" cy="2834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Flights, hotels, attractions, weather and expenses are spread across separate tools.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Travelers must manually balance budget, time, interests and route distance.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A delay can invalidate a carefully planned itinerary.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Keyword search alone is not enough for personalized destination discovery.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783080"/>
            <a:ext cx="5623560" cy="4160520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029968"/>
            <a:ext cx="2560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3B1B5"/>
                </a:solidFill>
                <a:latin typeface="Aptos"/>
              </a:rPr>
              <a:t>THE COPILOT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87168"/>
            <a:ext cx="44805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One decision layer over the whole trip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54680"/>
            <a:ext cx="347472" cy="310896"/>
          </a:xfrm>
          <a:prstGeom prst="roundRect">
            <a:avLst/>
          </a:prstGeom>
          <a:solidFill>
            <a:srgbClr val="2770E5"/>
          </a:solidFill>
          <a:ln w="12700">
            <a:solidFill>
              <a:srgbClr val="277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3172968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145536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145536"/>
            <a:ext cx="30632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Aptos"/>
              </a:rPr>
              <a:t>Intent, destination, duration, budget, travelers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76472"/>
            <a:ext cx="347472" cy="310896"/>
          </a:xfrm>
          <a:prstGeom prst="roundRect">
            <a:avLst/>
          </a:prstGeom>
          <a:solidFill>
            <a:srgbClr val="23B1B5"/>
          </a:solidFill>
          <a:ln w="12700">
            <a:solidFill>
              <a:srgbClr val="23B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79475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767328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3B1B5"/>
                </a:solidFill>
                <a:latin typeface="Aptos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767328"/>
            <a:ext cx="30632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Aptos"/>
              </a:rPr>
              <a:t>Verified POIs, hotels and contextual travel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398264"/>
            <a:ext cx="347472" cy="310896"/>
          </a:xfrm>
          <a:prstGeom prst="roundRect">
            <a:avLst/>
          </a:prstGeom>
          <a:solidFill>
            <a:srgbClr val="EF8436"/>
          </a:solidFill>
          <a:ln w="12700">
            <a:solidFill>
              <a:srgbClr val="EF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4416552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389120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EF8436"/>
                </a:solidFill>
                <a:latin typeface="Aptos"/>
              </a:rPr>
              <a:t>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389120"/>
            <a:ext cx="30632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Aptos"/>
              </a:rPr>
              <a:t>Budget allocation + geographic route ordering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020056"/>
            <a:ext cx="347472" cy="310896"/>
          </a:xfrm>
          <a:prstGeom prst="roundRect">
            <a:avLst/>
          </a:prstGeom>
          <a:solidFill>
            <a:srgbClr val="EBB441"/>
          </a:solidFill>
          <a:ln w="12700">
            <a:solidFill>
              <a:srgbClr val="EB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503834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010912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EBB441"/>
                </a:solidFill>
                <a:latin typeface="Aptos"/>
              </a:rPr>
              <a:t>ADAPT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010912"/>
            <a:ext cx="30632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Aptos"/>
              </a:rPr>
              <a:t>Delay / disruption response + weather alternatives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02 •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What the AI Travel Copilot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The implementation combines autonomous planning, classical ML, retrieval, optimization and a production-style web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2039112"/>
            <a:ext cx="438912" cy="310896"/>
          </a:xfrm>
          <a:prstGeom prst="roundRect">
            <a:avLst/>
          </a:prstGeom>
          <a:solidFill>
            <a:srgbClr val="2770E5"/>
          </a:solidFill>
          <a:ln w="12700">
            <a:solidFill>
              <a:srgbClr val="277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43891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020824"/>
            <a:ext cx="2423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C1626"/>
                </a:solidFill>
                <a:latin typeface="Aptos"/>
              </a:rPr>
              <a:t>AI Trip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87168"/>
            <a:ext cx="306324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Generates multi-day itineraries from destination, duration, budget, travelers and interests.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7451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45151" y="2039112"/>
            <a:ext cx="438912" cy="310896"/>
          </a:xfrm>
          <a:prstGeom prst="roundRect">
            <a:avLst/>
          </a:prstGeom>
          <a:solidFill>
            <a:srgbClr val="23B1B5"/>
          </a:solidFill>
          <a:ln w="12700">
            <a:solidFill>
              <a:srgbClr val="23B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1" y="2057400"/>
            <a:ext cx="43891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020824"/>
            <a:ext cx="2423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C1626"/>
                </a:solidFill>
                <a:latin typeface="Aptos"/>
              </a:rPr>
              <a:t>Flight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487168"/>
            <a:ext cx="306324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Predicts airfare and classifies delay risk before the traveler commits.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87451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67344" y="2039112"/>
            <a:ext cx="438912" cy="310896"/>
          </a:xfrm>
          <a:prstGeom prst="roundRect">
            <a:avLst/>
          </a:prstGeom>
          <a:solidFill>
            <a:srgbClr val="744FBF"/>
          </a:solidFill>
          <a:ln w="12700">
            <a:solidFill>
              <a:srgbClr val="74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43891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020824"/>
            <a:ext cx="2423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C1626"/>
                </a:solidFill>
                <a:latin typeface="Aptos"/>
              </a:rPr>
              <a:t>Smart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487168"/>
            <a:ext cx="306324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Retrieves attractions and ranks recommendations using TF-IDF + cosine similarity.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4903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3913631"/>
            <a:ext cx="438912" cy="310896"/>
          </a:xfrm>
          <a:prstGeom prst="roundRect">
            <a:avLst/>
          </a:prstGeom>
          <a:solidFill>
            <a:srgbClr val="EF8436"/>
          </a:solidFill>
          <a:ln w="12700">
            <a:solidFill>
              <a:srgbClr val="EF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931919"/>
            <a:ext cx="43891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3895344"/>
            <a:ext cx="2423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C1626"/>
                </a:solidFill>
                <a:latin typeface="Aptos"/>
              </a:rPr>
              <a:t>Budget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361688"/>
            <a:ext cx="306324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Splits the trip budget across stay, transport, activities, food and emergency buffer.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74903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645151" y="3913631"/>
            <a:ext cx="438912" cy="310896"/>
          </a:xfrm>
          <a:prstGeom prst="roundRect">
            <a:avLst/>
          </a:prstGeom>
          <a:solidFill>
            <a:srgbClr val="2CA067"/>
          </a:solidFill>
          <a:ln w="12700">
            <a:solidFill>
              <a:srgbClr val="2CA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1" y="3931919"/>
            <a:ext cx="43891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895344"/>
            <a:ext cx="2423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C1626"/>
                </a:solidFill>
                <a:latin typeface="Aptos"/>
              </a:rPr>
              <a:t>Adaptive Travel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1" y="4361688"/>
            <a:ext cx="306324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Checks disruption records and can simulate itinerary changes; weather can trigger indoor alternatives.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374903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67344" y="3913631"/>
            <a:ext cx="438912" cy="310896"/>
          </a:xfrm>
          <a:prstGeom prst="roundRect">
            <a:avLst/>
          </a:prstGeom>
          <a:solidFill>
            <a:srgbClr val="EBB441"/>
          </a:solidFill>
          <a:ln w="12700">
            <a:solidFill>
              <a:srgbClr val="EB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7344" y="3931919"/>
            <a:ext cx="43891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895344"/>
            <a:ext cx="2423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C1626"/>
                </a:solidFill>
                <a:latin typeface="Aptos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4361688"/>
            <a:ext cx="306324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Conversational travel support with multilingual intent detection and optional Gemini generation.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03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From traveler intent to an executable itinerary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A modular architecture keeps UI, APIs, intelligence engines, optimization and persistence independently testable.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4008" cy="1051560"/>
          </a:xfrm>
          <a:prstGeom prst="rect">
            <a:avLst/>
          </a:prstGeom>
          <a:solidFill>
            <a:srgbClr val="277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90195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Traveler /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1783080" cy="4846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React 19 + TypeScript
Vite + 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54680" y="1783080"/>
            <a:ext cx="64008" cy="1051560"/>
          </a:xfrm>
          <a:prstGeom prst="rect">
            <a:avLst/>
          </a:prstGeom>
          <a:solidFill>
            <a:srgbClr val="23B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9272" y="190195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258568"/>
            <a:ext cx="1783080" cy="4846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FastAPI REST endpoints
Pydantic schemas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78308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23560" y="1783080"/>
            <a:ext cx="64008" cy="1051560"/>
          </a:xfrm>
          <a:prstGeom prst="rect">
            <a:avLst/>
          </a:prstGeom>
          <a:solidFill>
            <a:srgbClr val="74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88152" y="1901952"/>
            <a:ext cx="1783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2258568"/>
            <a:ext cx="1783080" cy="4846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Agents + RAG + Gemini
Multilingual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830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783080"/>
            <a:ext cx="64008" cy="1051560"/>
          </a:xfrm>
          <a:prstGeom prst="rect">
            <a:avLst/>
          </a:prstGeom>
          <a:solidFill>
            <a:srgbClr val="EF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901952"/>
            <a:ext cx="3154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ML +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258568"/>
            <a:ext cx="3154680" cy="4846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Random Forest • TF-IDF • Cosine
Knapsack allocation • TSP heuristic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2304288"/>
            <a:ext cx="384048" cy="0"/>
          </a:xfrm>
          <a:prstGeom prst="line">
            <a:avLst/>
          </a:prstGeom>
          <a:ln w="31750">
            <a:solidFill>
              <a:srgbClr val="277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12080" y="2304288"/>
            <a:ext cx="384048" cy="0"/>
          </a:xfrm>
          <a:prstGeom prst="line">
            <a:avLst/>
          </a:prstGeom>
          <a:ln w="31750">
            <a:solidFill>
              <a:srgbClr val="277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60" y="2304288"/>
            <a:ext cx="384048" cy="0"/>
          </a:xfrm>
          <a:prstGeom prst="line">
            <a:avLst/>
          </a:prstGeom>
          <a:ln w="31750">
            <a:solidFill>
              <a:srgbClr val="277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97280" y="370332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97280" y="3703320"/>
            <a:ext cx="64008" cy="1234440"/>
          </a:xfrm>
          <a:prstGeom prst="rect">
            <a:avLst/>
          </a:prstGeom>
          <a:solidFill>
            <a:srgbClr val="10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61872" y="3822191"/>
            <a:ext cx="2560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Knowledge &amp; 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178808"/>
            <a:ext cx="2560320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300k+ flight records • 20k+ hotel reviews
152 POIs • 372 rich knowledge entries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70332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3703320"/>
            <a:ext cx="64008" cy="1234440"/>
          </a:xfrm>
          <a:prstGeom prst="rect">
            <a:avLst/>
          </a:prstGeom>
          <a:solidFill>
            <a:srgbClr val="277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28031" y="3822191"/>
            <a:ext cx="2560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1" y="4178808"/>
            <a:ext cx="2560320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SQLite + SQLAlchemy
Users • Trips • Itinerary Days • Expenses • Bookings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0332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0" y="3703320"/>
            <a:ext cx="64008" cy="1234440"/>
          </a:xfrm>
          <a:prstGeom prst="rect">
            <a:avLst/>
          </a:prstGeom>
          <a:solidFill>
            <a:srgbClr val="EB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94192" y="3822191"/>
            <a:ext cx="2560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External / Optional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178808"/>
            <a:ext cx="2560320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Gemini API when configured
Curated weather &amp; disruption feeds in current build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6126480" y="2834640"/>
            <a:ext cx="530352" cy="822960"/>
          </a:xfrm>
          <a:prstGeom prst="line">
            <a:avLst/>
          </a:prstGeom>
          <a:ln w="21590">
            <a:solidFill>
              <a:srgbClr val="AAB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743200" y="2834640"/>
            <a:ext cx="1188720" cy="822960"/>
          </a:xfrm>
          <a:prstGeom prst="line">
            <a:avLst/>
          </a:prstGeom>
          <a:ln w="21590">
            <a:solidFill>
              <a:srgbClr val="AAB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26880" y="2834640"/>
            <a:ext cx="274320" cy="822960"/>
          </a:xfrm>
          <a:prstGeom prst="line">
            <a:avLst/>
          </a:prstGeom>
          <a:ln w="21590">
            <a:solidFill>
              <a:srgbClr val="AAB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5800" y="5349240"/>
            <a:ext cx="10835640" cy="658368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0C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522976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23B1B5"/>
                </a:solidFill>
                <a:latin typeface="Aptos"/>
              </a:rPr>
              <a:t>CORE IDEA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468112"/>
            <a:ext cx="896112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The backend does the reasoning; the frontend turns the reasoning into a decision-friendly travel experience.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04 • AGENTIC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How a request becomes a personalized trip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The current implementation separates request parsing, retrieval, planning, budget allocation and route sequencing.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99339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039112"/>
            <a:ext cx="384048" cy="310896"/>
          </a:xfrm>
          <a:prstGeom prst="roundRect">
            <a:avLst/>
          </a:prstGeom>
          <a:solidFill>
            <a:srgbClr val="2770E5"/>
          </a:solidFill>
          <a:ln w="12700">
            <a:solidFill>
              <a:srgbClr val="277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384048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42032"/>
            <a:ext cx="166420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Parse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054096"/>
            <a:ext cx="1664208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Destination • days • budget • travelers • interests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22191"/>
            <a:ext cx="166420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2770E5"/>
                </a:solidFill>
                <a:latin typeface="Aptos"/>
              </a:rPr>
              <a:t>Intent + entity extraction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87752" y="3072384"/>
            <a:ext cx="256032" cy="0"/>
          </a:xfrm>
          <a:prstGeom prst="line">
            <a:avLst/>
          </a:prstGeom>
          <a:ln w="20320">
            <a:solidFill>
              <a:srgbClr val="919D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98648" y="1874519"/>
            <a:ext cx="199339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63240" y="2039112"/>
            <a:ext cx="384048" cy="310896"/>
          </a:xfrm>
          <a:prstGeom prst="roundRect">
            <a:avLst/>
          </a:prstGeom>
          <a:solidFill>
            <a:srgbClr val="10918A"/>
          </a:solidFill>
          <a:ln w="12700">
            <a:solidFill>
              <a:srgbClr val="1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2057400"/>
            <a:ext cx="384048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542032"/>
            <a:ext cx="166420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Retrieve 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054096"/>
            <a:ext cx="1664208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Destination-aware retrieval from curated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822191"/>
            <a:ext cx="166420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10918A"/>
                </a:solidFill>
                <a:latin typeface="Aptos"/>
              </a:rPr>
              <a:t>RAG / TF-IDF retrieval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2040" y="3072384"/>
            <a:ext cx="256032" cy="0"/>
          </a:xfrm>
          <a:prstGeom prst="line">
            <a:avLst/>
          </a:prstGeom>
          <a:ln w="20320">
            <a:solidFill>
              <a:srgbClr val="919D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02936" y="1874519"/>
            <a:ext cx="199339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67528" y="2039112"/>
            <a:ext cx="384048" cy="310896"/>
          </a:xfrm>
          <a:prstGeom prst="roundRect">
            <a:avLst/>
          </a:prstGeom>
          <a:solidFill>
            <a:srgbClr val="EF8436"/>
          </a:solidFill>
          <a:ln w="12700">
            <a:solidFill>
              <a:srgbClr val="EF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67528" y="2057400"/>
            <a:ext cx="384048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2542032"/>
            <a:ext cx="166420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Allocate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054096"/>
            <a:ext cx="1664208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Stay • transport • activities • food • 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822191"/>
            <a:ext cx="166420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EF8436"/>
                </a:solidFill>
                <a:latin typeface="Aptos"/>
              </a:rPr>
              <a:t>Budget optimizer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96328" y="3072384"/>
            <a:ext cx="256032" cy="0"/>
          </a:xfrm>
          <a:prstGeom prst="line">
            <a:avLst/>
          </a:prstGeom>
          <a:ln w="20320">
            <a:solidFill>
              <a:srgbClr val="919D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07224" y="1874519"/>
            <a:ext cx="199339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71816" y="2039112"/>
            <a:ext cx="384048" cy="310896"/>
          </a:xfrm>
          <a:prstGeom prst="roundRect">
            <a:avLst/>
          </a:prstGeom>
          <a:solidFill>
            <a:srgbClr val="744FBF"/>
          </a:solidFill>
          <a:ln w="12700">
            <a:solidFill>
              <a:srgbClr val="74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71816" y="2057400"/>
            <a:ext cx="384048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2542032"/>
            <a:ext cx="166420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Build itinerary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6" y="3054096"/>
            <a:ext cx="1664208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Select unique attractions day-by-day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6" y="3822191"/>
            <a:ext cx="166420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744FBF"/>
                </a:solidFill>
                <a:latin typeface="Aptos"/>
              </a:rPr>
              <a:t>Planner agent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00616" y="3072384"/>
            <a:ext cx="256032" cy="0"/>
          </a:xfrm>
          <a:prstGeom prst="line">
            <a:avLst/>
          </a:prstGeom>
          <a:ln w="20320">
            <a:solidFill>
              <a:srgbClr val="919D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11512" y="1874519"/>
            <a:ext cx="199339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976104" y="2039112"/>
            <a:ext cx="384048" cy="310896"/>
          </a:xfrm>
          <a:prstGeom prst="roundRect">
            <a:avLst/>
          </a:prstGeom>
          <a:solidFill>
            <a:srgbClr val="2CA067"/>
          </a:solidFill>
          <a:ln w="12700">
            <a:solidFill>
              <a:srgbClr val="2CA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76104" y="2057400"/>
            <a:ext cx="384048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6104" y="2542032"/>
            <a:ext cx="166420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Optimize 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76104" y="3054096"/>
            <a:ext cx="1664208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Order daily sights by geographic proximity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76104" y="3822191"/>
            <a:ext cx="166420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2CA067"/>
                </a:solidFill>
                <a:latin typeface="Aptos"/>
              </a:rPr>
              <a:t>Haversine + nearest-neighbor TSP heuristic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709160"/>
            <a:ext cx="10287000" cy="1051560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0C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70432" y="4919472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23B1B5"/>
                </a:solidFill>
                <a:latin typeface="Aptos"/>
              </a:rPr>
              <a:t>EXAMPLE REQUEST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855464"/>
            <a:ext cx="80467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“Plan a 5-day Goa trip for 2 travelers under ₹40,000 with beaches + adventure.”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5239512"/>
            <a:ext cx="80467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D2DEEE"/>
                </a:solidFill>
                <a:latin typeface="Aptos"/>
              </a:rPr>
              <a:t>Output: unique day plan + optimized route + budget allocation + supporting flight/hotel recommendations.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05 •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Three trained ML/NLP models make the platform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Metrics below are taken from the serialized model evaluation report in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965960"/>
            <a:ext cx="3191256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2770E5"/>
                </a:solidFill>
                <a:latin typeface="Aptos"/>
              </a:rPr>
              <a:t>0.9738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450592"/>
            <a:ext cx="319125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Aptos"/>
              </a:rPr>
              <a:t>Flight price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79776"/>
            <a:ext cx="3191256" cy="84124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06C7D"/>
                </a:solidFill>
                <a:latin typeface="Aptos"/>
              </a:rPr>
              <a:t>RandomForestRegressor • 60 trees • max_depth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965960"/>
            <a:ext cx="3191256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23B1B5"/>
                </a:solidFill>
                <a:latin typeface="Aptos"/>
              </a:rPr>
              <a:t>₹1,912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450592"/>
            <a:ext cx="319125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Aptos"/>
              </a:rPr>
              <a:t>Flight price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779776"/>
            <a:ext cx="3191256" cy="84124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06C7D"/>
                </a:solidFill>
                <a:latin typeface="Aptos"/>
              </a:rPr>
              <a:t>Mean absolute error on the held-out test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965960"/>
            <a:ext cx="3191256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744FBF"/>
                </a:solidFill>
                <a:latin typeface="Aptos"/>
              </a:rPr>
              <a:t>86.22%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50592"/>
            <a:ext cx="319125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Aptos"/>
              </a:rPr>
              <a:t>Hotel sentiment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779776"/>
            <a:ext cx="3191256" cy="84124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606C7D"/>
                </a:solidFill>
                <a:latin typeface="Aptos"/>
              </a:rPr>
              <a:t>TF-IDF (5k features) + Logistic Regression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53035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C1626"/>
                </a:solidFill>
                <a:latin typeface="Aptos"/>
              </a:rPr>
              <a:t>FLIGHT DELAY RISK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38404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2CA067"/>
                </a:solidFill>
                <a:latin typeface="Aptos"/>
              </a:rPr>
              <a:t>Accuracy 100%  •  F1 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4526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RandomForestClassifier • classes: Low / Moderate / 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77639"/>
            <a:ext cx="53949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224528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C1626"/>
                </a:solidFill>
                <a:latin typeface="Aptos"/>
              </a:rPr>
              <a:t>FLIGHT PRICE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08576"/>
            <a:ext cx="3840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2770E5"/>
                </a:solidFill>
                <a:latin typeface="Aptos"/>
              </a:rPr>
              <a:t>32,000 train  •  8,000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047488"/>
            <a:ext cx="47091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19" b="0">
                <a:solidFill>
                  <a:srgbClr val="606C7D"/>
                </a:solidFill>
                <a:latin typeface="Aptos"/>
              </a:rPr>
              <a:t>Features: airline, source/destination, departure/arrival time, stops, class, duration, days_left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70448"/>
            <a:ext cx="107899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19" b="1">
                <a:solidFill>
                  <a:srgbClr val="CB4646"/>
                </a:solidFill>
                <a:latin typeface="Aptos"/>
              </a:rPr>
              <a:t>Interview note: the delay classifier is trained on synthetic risk labels generated from airline, time, route and weather features — not live airline telemetry.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06 • RETRIEVAL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The system does not rely on an LLM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Retrieval grounds recommendations in project data; ranking then combines semantic similarity, destination match and rating.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005840"/>
          </a:xfrm>
          <a:prstGeom prst="rect">
            <a:avLst/>
          </a:prstGeom>
          <a:solidFill>
            <a:srgbClr val="277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947672"/>
            <a:ext cx="1874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User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04288"/>
            <a:ext cx="1874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“Goa beaches nightlife”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82880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54680" y="1828800"/>
            <a:ext cx="64008" cy="1005840"/>
          </a:xfrm>
          <a:prstGeom prst="rect">
            <a:avLst/>
          </a:prstGeom>
          <a:solidFill>
            <a:srgbClr val="10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9272" y="1947672"/>
            <a:ext cx="1874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TF-IDF vectorizer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304288"/>
            <a:ext cx="1874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Text → sparse feature vector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828800"/>
            <a:ext cx="2148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0" y="1828800"/>
            <a:ext cx="64008" cy="1005840"/>
          </a:xfrm>
          <a:prstGeom prst="rect">
            <a:avLst/>
          </a:prstGeom>
          <a:solidFill>
            <a:srgbClr val="74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33872" y="1947672"/>
            <a:ext cx="1874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Cosine similarity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304288"/>
            <a:ext cx="1874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Compare query ↔ POI vectors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28800"/>
            <a:ext cx="3063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828800"/>
            <a:ext cx="64008" cy="1005840"/>
          </a:xfrm>
          <a:prstGeom prst="rect">
            <a:avLst/>
          </a:prstGeom>
          <a:solidFill>
            <a:srgbClr val="EF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947672"/>
            <a:ext cx="27889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Final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304288"/>
            <a:ext cx="27889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06C7D"/>
                </a:solidFill>
                <a:latin typeface="Aptos"/>
              </a:rPr>
              <a:t>Similarity + city boost + rating boost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2331720"/>
            <a:ext cx="338328" cy="0"/>
          </a:xfrm>
          <a:prstGeom prst="line">
            <a:avLst/>
          </a:prstGeom>
          <a:ln w="31750">
            <a:solidFill>
              <a:srgbClr val="277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03520" y="2331720"/>
            <a:ext cx="338328" cy="0"/>
          </a:xfrm>
          <a:prstGeom prst="line">
            <a:avLst/>
          </a:prstGeom>
          <a:ln w="31750">
            <a:solidFill>
              <a:srgbClr val="277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18120" y="2331720"/>
            <a:ext cx="338328" cy="0"/>
          </a:xfrm>
          <a:prstGeom prst="line">
            <a:avLst/>
          </a:prstGeom>
          <a:ln w="31750">
            <a:solidFill>
              <a:srgbClr val="277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338328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639312"/>
            <a:ext cx="2651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0C1626"/>
                </a:solidFill>
                <a:latin typeface="Aptos"/>
              </a:rPr>
              <a:t>RAG / KNOWLEDGE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41648"/>
            <a:ext cx="466344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372 rich destination knowledge entries are loaded by the RAG engine.</a:t>
            </a:r>
          </a:p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152 curated attraction records contain name, city, category, tags, description, rating, cost and coordinates.</a:t>
            </a:r>
          </a:p>
          <a:p>
            <a:pPr>
              <a:spcAft>
                <a:spcPts val="5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Destination matching is attempted first; semantic similarity is the fallback.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383280"/>
            <a:ext cx="4983480" cy="1965960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0C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639312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23B1B5"/>
                </a:solidFill>
                <a:latin typeface="Aptos"/>
              </a:rPr>
              <a:t>RECOMMENDER BUNDLE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069080"/>
            <a:ext cx="42062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13 indexed POIs • 259 TF-IDF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590288"/>
            <a:ext cx="41605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19" b="0">
                <a:solidFill>
                  <a:srgbClr val="D2DEEE"/>
                </a:solidFill>
                <a:latin typeface="Aptos"/>
              </a:rPr>
              <a:t>The serialized recommender currently contains 13 POIs; the source attractions dataset contains 152 records.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07 •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Mathematical logic keeps the itinerary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Two optimization ideas are central: budget partitioning and geographic route sequencing.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24688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BUDGET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448056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606C7D"/>
                </a:solidFill>
                <a:latin typeface="Aptos"/>
              </a:rPr>
              <a:t>A 5-bucket allocation prevents the planner from treating attractions, hotels and transport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Aptos"/>
              </a:rPr>
              <a:t>Stay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264408"/>
            <a:ext cx="2651760" cy="201168"/>
          </a:xfrm>
          <a:prstGeom prst="roundRect">
            <a:avLst/>
          </a:prstGeom>
          <a:solidFill>
            <a:srgbClr val="EBF0F6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11680" y="3264408"/>
            <a:ext cx="2651760" cy="201168"/>
          </a:xfrm>
          <a:prstGeom prst="roundRect">
            <a:avLst/>
          </a:prstGeom>
          <a:solidFill>
            <a:srgbClr val="2770E5"/>
          </a:solidFill>
          <a:ln w="12700">
            <a:solidFill>
              <a:srgbClr val="277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3236976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50" b="1">
                <a:solidFill>
                  <a:srgbClr val="2770E5"/>
                </a:solidFill>
                <a:latin typeface="Aptos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Aptos"/>
              </a:rPr>
              <a:t>Transport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767327"/>
            <a:ext cx="2651760" cy="201168"/>
          </a:xfrm>
          <a:prstGeom prst="roundRect">
            <a:avLst/>
          </a:prstGeom>
          <a:solidFill>
            <a:srgbClr val="EBF0F6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011680" y="3767327"/>
            <a:ext cx="1894114" cy="201168"/>
          </a:xfrm>
          <a:prstGeom prst="roundRect">
            <a:avLst/>
          </a:prstGeom>
          <a:solidFill>
            <a:srgbClr val="23B1B5"/>
          </a:solidFill>
          <a:ln w="12700">
            <a:solidFill>
              <a:srgbClr val="23B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3739896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50" b="1">
                <a:solidFill>
                  <a:srgbClr val="23B1B5"/>
                </a:solidFill>
                <a:latin typeface="Aptos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59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Aptos"/>
              </a:rPr>
              <a:t>Activities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270247"/>
            <a:ext cx="2651760" cy="201168"/>
          </a:xfrm>
          <a:prstGeom prst="roundRect">
            <a:avLst/>
          </a:prstGeom>
          <a:solidFill>
            <a:srgbClr val="EBF0F6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011680" y="4270247"/>
            <a:ext cx="1515291" cy="201168"/>
          </a:xfrm>
          <a:prstGeom prst="roundRect">
            <a:avLst/>
          </a:prstGeom>
          <a:solidFill>
            <a:srgbClr val="EF8436"/>
          </a:solidFill>
          <a:ln w="12700">
            <a:solidFill>
              <a:srgbClr val="EF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242816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50" b="1">
                <a:solidFill>
                  <a:srgbClr val="EF8436"/>
                </a:solidFill>
                <a:latin typeface="Aptos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79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Aptos"/>
              </a:rPr>
              <a:t>Food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4773167"/>
            <a:ext cx="2651760" cy="201168"/>
          </a:xfrm>
          <a:prstGeom prst="roundRect">
            <a:avLst/>
          </a:prstGeom>
          <a:solidFill>
            <a:srgbClr val="EBF0F6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11680" y="4773167"/>
            <a:ext cx="1136468" cy="201168"/>
          </a:xfrm>
          <a:prstGeom prst="roundRect">
            <a:avLst/>
          </a:prstGeom>
          <a:solidFill>
            <a:srgbClr val="2CA067"/>
          </a:solidFill>
          <a:ln w="12700">
            <a:solidFill>
              <a:srgbClr val="2CA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4745736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50" b="1">
                <a:solidFill>
                  <a:srgbClr val="2CA067"/>
                </a:solidFill>
                <a:latin typeface="Aptos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799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Aptos"/>
              </a:rPr>
              <a:t>Buffer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5276087"/>
            <a:ext cx="2651760" cy="201168"/>
          </a:xfrm>
          <a:prstGeom prst="roundRect">
            <a:avLst/>
          </a:prstGeom>
          <a:solidFill>
            <a:srgbClr val="EBF0F6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011680" y="5276087"/>
            <a:ext cx="378822" cy="201168"/>
          </a:xfrm>
          <a:prstGeom prst="roundRect">
            <a:avLst/>
          </a:prstGeom>
          <a:solidFill>
            <a:srgbClr val="EBB441"/>
          </a:solidFill>
          <a:ln w="12700">
            <a:solidFill>
              <a:srgbClr val="EB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5248655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50" b="1">
                <a:solidFill>
                  <a:srgbClr val="EBB441"/>
                </a:solidFill>
                <a:latin typeface="Aptos"/>
              </a:rPr>
              <a:t>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04688"/>
            <a:ext cx="411480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606C7D"/>
                </a:solidFill>
                <a:latin typeface="Aptos"/>
              </a:rPr>
              <a:t>Current default benchmark: Mid_Range_Explorer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828800"/>
            <a:ext cx="5257800" cy="4160520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0C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2084831"/>
            <a:ext cx="29260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23B1B5"/>
                </a:solidFill>
                <a:latin typeface="Aptos"/>
              </a:rPr>
              <a:t>DAILY ROUTE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487168"/>
            <a:ext cx="4343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Haversine distance + nearest-neighbor TSP heuristic</a:t>
            </a:r>
          </a:p>
        </p:txBody>
      </p:sp>
      <p:sp>
        <p:nvSpPr>
          <p:cNvPr id="32" name="Oval 31"/>
          <p:cNvSpPr/>
          <p:nvPr/>
        </p:nvSpPr>
        <p:spPr>
          <a:xfrm>
            <a:off x="6903720" y="3749039"/>
            <a:ext cx="219456" cy="219456"/>
          </a:xfrm>
          <a:prstGeom prst="ellipse">
            <a:avLst/>
          </a:prstGeom>
          <a:solidFill>
            <a:srgbClr val="277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 flipV="1">
            <a:off x="7123176" y="3355848"/>
            <a:ext cx="877824" cy="502920"/>
          </a:xfrm>
          <a:prstGeom prst="line">
            <a:avLst/>
          </a:prstGeom>
          <a:ln w="21590">
            <a:solidFill>
              <a:srgbClr val="829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001000" y="3246120"/>
            <a:ext cx="219456" cy="219456"/>
          </a:xfrm>
          <a:prstGeom prst="ellipse">
            <a:avLst/>
          </a:prstGeom>
          <a:solidFill>
            <a:srgbClr val="23B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8220456" y="3355848"/>
            <a:ext cx="969264" cy="822960"/>
          </a:xfrm>
          <a:prstGeom prst="line">
            <a:avLst/>
          </a:prstGeom>
          <a:ln w="21590">
            <a:solidFill>
              <a:srgbClr val="829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189720" y="4069080"/>
            <a:ext cx="219456" cy="219456"/>
          </a:xfrm>
          <a:prstGeom prst="ellipse">
            <a:avLst/>
          </a:prstGeom>
          <a:solidFill>
            <a:srgbClr val="EF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 flipV="1">
            <a:off x="9409176" y="3493008"/>
            <a:ext cx="969264" cy="685800"/>
          </a:xfrm>
          <a:prstGeom prst="line">
            <a:avLst/>
          </a:prstGeom>
          <a:ln w="21590">
            <a:solidFill>
              <a:srgbClr val="829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378440" y="3383280"/>
            <a:ext cx="219456" cy="219456"/>
          </a:xfrm>
          <a:prstGeom prst="ellipse">
            <a:avLst/>
          </a:prstGeom>
          <a:solidFill>
            <a:srgbClr val="2CA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10597896" y="3493008"/>
            <a:ext cx="374904" cy="1188720"/>
          </a:xfrm>
          <a:prstGeom prst="line">
            <a:avLst/>
          </a:prstGeom>
          <a:ln w="21590">
            <a:solidFill>
              <a:srgbClr val="829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0972800" y="4572000"/>
            <a:ext cx="219456" cy="219456"/>
          </a:xfrm>
          <a:prstGeom prst="ellipse">
            <a:avLst/>
          </a:prstGeom>
          <a:solidFill>
            <a:srgbClr val="EB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4892040"/>
            <a:ext cx="43891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D2DEEE"/>
                </a:solidFill>
                <a:latin typeface="Aptos"/>
              </a:rPr>
              <a:t>The implementation orders each day’s attractions by repeatedly choosing the nearest unvisited POI.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596128"/>
            <a:ext cx="4389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EBB441"/>
                </a:solidFill>
                <a:latin typeface="Aptos"/>
              </a:rPr>
              <a:t>Important: the current code uses a nearest-neighbor heuristic; it does not implement the 2-opt swap described in an older project document.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08 •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A decision-first interface — not a model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The sample project UI emphasizes a clean, premium travel workflow with maps, filters, cards and actionable outputs.</a:t>
            </a:r>
          </a:p>
        </p:txBody>
      </p:sp>
      <p:pic>
        <p:nvPicPr>
          <p:cNvPr id="5" name="Picture 4" descr="trip_planner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7498079" cy="41849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737360"/>
            <a:ext cx="3063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32520" y="1993392"/>
            <a:ext cx="2514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0C1626"/>
                </a:solidFill>
                <a:latin typeface="Aptos"/>
              </a:rPr>
              <a:t>WHAT AN INTERVIEWER CAN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578608"/>
            <a:ext cx="2331720" cy="2331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Destination + date inputs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Traveler count and travel style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Budget control in one place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Interest tags for personalization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Interactive map context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One-click itinerary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257800"/>
            <a:ext cx="2423160" cy="310896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0C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20" y="5276088"/>
            <a:ext cx="242316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React • TypeScript • Leaflet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5687568"/>
            <a:ext cx="23317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606C7D"/>
                </a:solidFill>
                <a:latin typeface="Aptos"/>
              </a:rPr>
              <a:t>Use this slide during the demo: enter a real request, generate the plan, then open the itinerary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09 • SUPPORTING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Flights, hotels, weather and disruptions complete the travel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These modules make the planner useful beyond itinerary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7" y="2011680"/>
            <a:ext cx="1143000" cy="310896"/>
          </a:xfrm>
          <a:prstGeom prst="roundRect">
            <a:avLst/>
          </a:prstGeom>
          <a:solidFill>
            <a:srgbClr val="2770E5"/>
          </a:solidFill>
          <a:ln w="12700">
            <a:solidFill>
              <a:srgbClr val="277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029968"/>
            <a:ext cx="114300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FLIGHTS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1975104"/>
            <a:ext cx="3429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Predicted fare + delay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475488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Random Forest price model + Random Forest delay 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1143000" cy="310896"/>
          </a:xfrm>
          <a:prstGeom prst="roundRect">
            <a:avLst/>
          </a:prstGeom>
          <a:solidFill>
            <a:srgbClr val="744FBF"/>
          </a:solidFill>
          <a:ln w="12700">
            <a:solidFill>
              <a:srgbClr val="74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29968"/>
            <a:ext cx="114300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HOTELS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75104"/>
            <a:ext cx="3429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Review sentiment + aspects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75488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TF-IDF + Logistic Regression; hotel cards expose sentiment and aspect scores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49039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7" y="3931920"/>
            <a:ext cx="1143000" cy="310896"/>
          </a:xfrm>
          <a:prstGeom prst="roundRect">
            <a:avLst/>
          </a:prstGeom>
          <a:solidFill>
            <a:srgbClr val="23B1B5"/>
          </a:solidFill>
          <a:ln w="12700">
            <a:solidFill>
              <a:srgbClr val="23B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950207"/>
            <a:ext cx="114300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WEATHER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895344"/>
            <a:ext cx="3429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5-day forecast + rerouting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407407"/>
            <a:ext cx="475488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Current build uses curated destination forecast data; ≥40% rain can trigger indoor alternatives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749039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92240" y="3931920"/>
            <a:ext cx="1143000" cy="310896"/>
          </a:xfrm>
          <a:prstGeom prst="roundRect">
            <a:avLst/>
          </a:prstGeom>
          <a:solidFill>
            <a:srgbClr val="EF8436"/>
          </a:solidFill>
          <a:ln w="12700">
            <a:solidFill>
              <a:srgbClr val="EF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950207"/>
            <a:ext cx="114300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DISRUPTIONS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95344"/>
            <a:ext cx="3429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C1626"/>
                </a:solidFill>
                <a:latin typeface="Aptos"/>
              </a:rPr>
              <a:t>Check + rebook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07407"/>
            <a:ext cx="475488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606C7D"/>
                </a:solidFill>
                <a:latin typeface="Aptos"/>
              </a:rPr>
              <a:t>CSV disruption events + itinerary adjustment logic; rebooking is a simulation in the current build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623560"/>
            <a:ext cx="9966960" cy="502920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0C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5880" y="5742432"/>
            <a:ext cx="9509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Design principle: every intelligence module should end in an action — choose, re-route, rebook, save or ask.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10 •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A modular full-stack implementation with clear separation of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The repository is organized into API, agents, ML, optimization, RAG, services, frontend pages and reusable components.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7860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029968"/>
            <a:ext cx="1188720" cy="310896"/>
          </a:xfrm>
          <a:prstGeom prst="roundRect">
            <a:avLst/>
          </a:prstGeom>
          <a:solidFill>
            <a:srgbClr val="2770E5"/>
          </a:solidFill>
          <a:ln w="12700">
            <a:solidFill>
              <a:srgbClr val="277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118872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770E5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39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770E5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39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7872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770E5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47872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Vite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32504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770E5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32504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Tailwind CSS 3.4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17136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770E5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17136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Leaflet / Recharts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828800"/>
            <a:ext cx="257860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57600" y="2029968"/>
            <a:ext cx="1188720" cy="310896"/>
          </a:xfrm>
          <a:prstGeom prst="roundRect">
            <a:avLst/>
          </a:prstGeom>
          <a:solidFill>
            <a:srgbClr val="23B1B5"/>
          </a:solidFill>
          <a:ln w="12700">
            <a:solidFill>
              <a:srgbClr val="23B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2048256"/>
            <a:ext cx="118872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578608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3B1B5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578608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063239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3B1B5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063239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Pydantic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47872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3B1B5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547872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SQLAlchemy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032504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3B1B5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032504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517136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3B1B5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517136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REST APIs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1828800"/>
            <a:ext cx="257860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37960" y="2029968"/>
            <a:ext cx="1188720" cy="310896"/>
          </a:xfrm>
          <a:prstGeom prst="roundRect">
            <a:avLst/>
          </a:prstGeom>
          <a:solidFill>
            <a:srgbClr val="744FBF"/>
          </a:solidFill>
          <a:ln w="12700">
            <a:solidFill>
              <a:srgbClr val="74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048256"/>
            <a:ext cx="118872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AI /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578608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744FB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578608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Scikit-learn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063239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744FB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063239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Random Forest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47872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744FBF"/>
                </a:solidFill>
                <a:latin typeface="Apto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47872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TF-IDF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032504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744FBF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032504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Cosine similarity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517136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744FBF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517136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Optional Gemini 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1828800"/>
            <a:ext cx="257860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418319" y="2029968"/>
            <a:ext cx="1188720" cy="310896"/>
          </a:xfrm>
          <a:prstGeom prst="roundRect">
            <a:avLst/>
          </a:prstGeom>
          <a:solidFill>
            <a:srgbClr val="EF8436"/>
          </a:solidFill>
          <a:ln w="12700">
            <a:solidFill>
              <a:srgbClr val="EF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18319" y="2048256"/>
            <a:ext cx="118872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19" y="2578608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EF8436"/>
                </a:solidFill>
                <a:latin typeface="Aptos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2578608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300,153 flight rows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19" y="3063239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EF8436"/>
                </a:solidFill>
                <a:latin typeface="Aptos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3063239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20,491 hotel reviews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19" y="3547872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EF8436"/>
                </a:solidFill>
                <a:latin typeface="Apto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360" y="3547872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152 attraction rows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19" y="4032504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EF8436"/>
                </a:solidFill>
                <a:latin typeface="Apto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4032504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372 rich POI entries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19" y="4517136"/>
            <a:ext cx="228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EF8436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38360" y="4517136"/>
            <a:ext cx="187451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Aptos"/>
              </a:rPr>
              <a:t>10 disruption events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" y="5440680"/>
            <a:ext cx="10972800" cy="658368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0C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680" y="5559552"/>
            <a:ext cx="1463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23B1B5"/>
                </a:solidFill>
                <a:latin typeface="Aptos"/>
              </a:rPr>
              <a:t>CORE API SURFACE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20" y="5522976"/>
            <a:ext cx="8823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/trips  /flights  /hotels  /budget  /disruptions  /chat  /weather  /recommendations  /dashboard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770E5"/>
                </a:solidFill>
                <a:latin typeface="Aptos"/>
              </a:rPr>
              <a:t>11 •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900" b="1">
                <a:solidFill>
                  <a:srgbClr val="0C1626"/>
                </a:solidFill>
                <a:latin typeface="Aptos"/>
              </a:rPr>
              <a:t>What is already implemented — and what should be stated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606C7D"/>
                </a:solidFill>
                <a:latin typeface="Aptos"/>
              </a:rPr>
              <a:t>Strong interview answers distinguish measured model results from prototype simulations and future integrations.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2377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2CA067"/>
                </a:solidFill>
                <a:latin typeface="Aptos"/>
              </a:rPr>
              <a:t>MEASURED / SERIALIZED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4572000" cy="2697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Flight price model: R² 0.9738, MAE ₹1,912.04, RMSE ₹3,640.80.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Flight delay classifier: 100% accuracy and F1 1.00 on the generated test split.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Hotel sentiment model: 86.22% accuracy and F1 0.8402.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152 attraction records are available for destination retrieval; the recommender bundle currently indexes 13.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Automated backend tests and a serialized model pipeline are included in the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251960"/>
          </a:xfrm>
          <a:prstGeom prst="roundRect">
            <a:avLst/>
          </a:prstGeom>
          <a:solidFill>
            <a:srgbClr val="0C1626"/>
          </a:solidFill>
          <a:ln w="12700">
            <a:solidFill>
              <a:srgbClr val="0C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084831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EBB441"/>
                </a:solidFill>
                <a:latin typeface="Aptos"/>
              </a:rPr>
              <a:t>CURRENT LIMITS / NEXT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78608"/>
            <a:ext cx="4572000" cy="2743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DAE3EE"/>
                </a:solidFill>
                <a:latin typeface="Aptos"/>
              </a:defRPr>
            </a:pPr>
            <a:r>
              <a:t>• Weather is currently curated/static by destination rather than a verified live weather API feed.</a:t>
            </a:r>
          </a:p>
          <a:p>
            <a:pPr>
              <a:spcAft>
                <a:spcPts val="500"/>
              </a:spcAft>
              <a:defRPr sz="1100">
                <a:solidFill>
                  <a:srgbClr val="DAE3EE"/>
                </a:solidFill>
                <a:latin typeface="Aptos"/>
              </a:defRPr>
            </a:pPr>
            <a:r>
              <a:t>• Disruption data is CSV-backed; rebooking is simulated rather than connected to an airline reservation system.</a:t>
            </a:r>
          </a:p>
          <a:p>
            <a:pPr>
              <a:spcAft>
                <a:spcPts val="500"/>
              </a:spcAft>
              <a:defRPr sz="1100">
                <a:solidFill>
                  <a:srgbClr val="DAE3EE"/>
                </a:solidFill>
                <a:latin typeface="Aptos"/>
              </a:defRPr>
            </a:pPr>
            <a:r>
              <a:t>• Flight delay labels are synthetic risk classes, so 100% accuracy should not be presented as real-world airline accuracy.</a:t>
            </a:r>
          </a:p>
          <a:p>
            <a:pPr>
              <a:spcAft>
                <a:spcPts val="500"/>
              </a:spcAft>
              <a:defRPr sz="1100">
                <a:solidFill>
                  <a:srgbClr val="DAE3EE"/>
                </a:solidFill>
                <a:latin typeface="Aptos"/>
              </a:defRPr>
            </a:pPr>
            <a:r>
              <a:t>• The Gemini layer is optional and depends on a configured API key.</a:t>
            </a:r>
          </a:p>
          <a:p>
            <a:pPr>
              <a:spcAft>
                <a:spcPts val="500"/>
              </a:spcAft>
              <a:defRPr sz="1100">
                <a:solidFill>
                  <a:srgbClr val="DAE3EE"/>
                </a:solidFill>
                <a:latin typeface="Aptos"/>
              </a:defRPr>
            </a:pPr>
            <a:r>
              <a:t>• Next: live flight/weather APIs, larger recommender index, real booking integrations and stronger evaluation on real delay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1">
                <a:solidFill>
                  <a:srgbClr val="606C7D"/>
                </a:solidFill>
                <a:latin typeface="Aptos"/>
              </a:rPr>
              <a:t>AI TRAVEL COPILOT  •  INTERVIEW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3B1B5"/>
                </a:solidFill>
                <a:latin typeface="Aptos"/>
              </a:rPr>
              <a:t>THE 60-SECOND DEMO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66928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Show the system thinking,
not just the screens.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23160"/>
            <a:ext cx="365760" cy="310896"/>
          </a:xfrm>
          <a:prstGeom prst="roundRect">
            <a:avLst/>
          </a:prstGeom>
          <a:solidFill>
            <a:srgbClr val="2770E5"/>
          </a:solidFill>
          <a:ln w="12700">
            <a:solidFill>
              <a:srgbClr val="277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441448"/>
            <a:ext cx="36576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404872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2770E5"/>
                </a:solidFill>
                <a:latin typeface="Aptos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404872"/>
            <a:ext cx="6126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D7E1EE"/>
                </a:solidFill>
                <a:latin typeface="Aptos"/>
              </a:rPr>
              <a:t>“5 days in Goa • ₹40k • 2 people • beaches + adventure”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81528"/>
            <a:ext cx="365760" cy="310896"/>
          </a:xfrm>
          <a:prstGeom prst="roundRect">
            <a:avLst/>
          </a:prstGeom>
          <a:solidFill>
            <a:srgbClr val="10918A"/>
          </a:solidFill>
          <a:ln w="12700">
            <a:solidFill>
              <a:srgbClr val="10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99816"/>
            <a:ext cx="36576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63240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0918A"/>
                </a:solidFill>
                <a:latin typeface="Aptos"/>
              </a:rP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063240"/>
            <a:ext cx="6126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D7E1EE"/>
                </a:solidFill>
                <a:latin typeface="Aptos"/>
              </a:rPr>
              <a:t>Planner retrieves POIs + allocates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39896"/>
            <a:ext cx="365760" cy="310896"/>
          </a:xfrm>
          <a:prstGeom prst="roundRect">
            <a:avLst/>
          </a:prstGeom>
          <a:solidFill>
            <a:srgbClr val="EF8436"/>
          </a:solidFill>
          <a:ln w="12700">
            <a:solidFill>
              <a:srgbClr val="EF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758183"/>
            <a:ext cx="36576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21608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EF8436"/>
                </a:solidFill>
                <a:latin typeface="Aptos"/>
              </a:rPr>
              <a:t>Optimize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721608"/>
            <a:ext cx="6126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D7E1EE"/>
                </a:solidFill>
                <a:latin typeface="Aptos"/>
              </a:rPr>
              <a:t>Daily sights are reordered geographically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98264"/>
            <a:ext cx="365760" cy="310896"/>
          </a:xfrm>
          <a:prstGeom prst="roundRect">
            <a:avLst/>
          </a:prstGeom>
          <a:solidFill>
            <a:srgbClr val="744FBF"/>
          </a:solidFill>
          <a:ln w="12700">
            <a:solidFill>
              <a:srgbClr val="74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416552"/>
            <a:ext cx="36576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79976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744FBF"/>
                </a:solidFill>
                <a:latin typeface="Aptos"/>
              </a:rPr>
              <a:t>Inspect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379976"/>
            <a:ext cx="6126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D7E1EE"/>
                </a:solidFill>
                <a:latin typeface="Aptos"/>
              </a:rPr>
              <a:t>Open map, flights, hotels and budget breakdown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56631"/>
            <a:ext cx="365760" cy="310896"/>
          </a:xfrm>
          <a:prstGeom prst="roundRect">
            <a:avLst/>
          </a:prstGeom>
          <a:solidFill>
            <a:srgbClr val="EBB441"/>
          </a:solidFill>
          <a:ln w="12700">
            <a:solidFill>
              <a:srgbClr val="EB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074919"/>
            <a:ext cx="36576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38344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EBB441"/>
                </a:solidFill>
                <a:latin typeface="Aptos"/>
              </a:rPr>
              <a:t>Adapt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038344"/>
            <a:ext cx="6126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D7E1EE"/>
                </a:solidFill>
                <a:latin typeface="Aptos"/>
              </a:rPr>
              <a:t>Simulate a delay → itinerary changes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1051560"/>
            <a:ext cx="2468880" cy="45262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C4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40" y="1417320"/>
            <a:ext cx="182880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AI TRAVEL
COPILOT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2560320"/>
            <a:ext cx="1325880" cy="310896"/>
          </a:xfrm>
          <a:prstGeom prst="roundRect">
            <a:avLst/>
          </a:prstGeom>
          <a:solidFill>
            <a:srgbClr val="2770E5"/>
          </a:solidFill>
          <a:ln w="12700">
            <a:solidFill>
              <a:srgbClr val="277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91472" y="2578608"/>
            <a:ext cx="13258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91472" y="3063240"/>
            <a:ext cx="1325880" cy="310896"/>
          </a:xfrm>
          <a:prstGeom prst="roundRect">
            <a:avLst/>
          </a:prstGeom>
          <a:solidFill>
            <a:srgbClr val="23B1B5"/>
          </a:solidFill>
          <a:ln w="12700">
            <a:solidFill>
              <a:srgbClr val="23B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91472" y="3081528"/>
            <a:ext cx="13258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1472" y="3566160"/>
            <a:ext cx="1325880" cy="310896"/>
          </a:xfrm>
          <a:prstGeom prst="roundRect">
            <a:avLst/>
          </a:prstGeom>
          <a:solidFill>
            <a:srgbClr val="EF8436"/>
          </a:solidFill>
          <a:ln w="12700">
            <a:solidFill>
              <a:srgbClr val="EF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3584448"/>
            <a:ext cx="13258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OPTIMIZE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91472" y="4069080"/>
            <a:ext cx="1325880" cy="310896"/>
          </a:xfrm>
          <a:prstGeom prst="roundRect">
            <a:avLst/>
          </a:prstGeom>
          <a:solidFill>
            <a:srgbClr val="EBB441"/>
          </a:solidFill>
          <a:ln w="12700">
            <a:solidFill>
              <a:srgbClr val="EB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91472" y="4087368"/>
            <a:ext cx="13258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ADAPT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8288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4476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4C5DB"/>
                </a:solidFill>
                <a:latin typeface="Aptos"/>
              </a:rPr>
              <a:t>Questions &amp; live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606C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1710</Words>
  <Application>Microsoft Office PowerPoint</Application>
  <PresentationFormat>Widescreen</PresentationFormat>
  <Paragraphs>304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Chandu Boini</dc:creator>
  <cp:keywords/>
  <dc:description>generated using python-pptx</dc:description>
  <cp:lastModifiedBy>24J45A0528 CSE-D</cp:lastModifiedBy>
  <cp:revision>1</cp:revision>
  <dcterms:created xsi:type="dcterms:W3CDTF">2013-01-27T09:14:16Z</dcterms:created>
  <dcterms:modified xsi:type="dcterms:W3CDTF">2026-08-19T11:24:22Z</dcterms:modified>
  <cp:category/>
</cp:coreProperties>
</file>